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6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3" name="Image 0" descr="/home/claude/work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0662" y="310000"/>
            <a:ext cx="1587628" cy="700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140000"/>
            <a:ext cx="12188952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0" y="1480000"/>
            <a:ext cx="12188952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1960000"/>
            <a:ext cx="10725912" cy="5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MULTI-AGENT RESEARCH ASSISTANT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97280" y="2510000"/>
            <a:ext cx="9994392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Multi-Agent Architecture with Hybrid RAG for Evidence-Based Research Automation</a:t>
            </a:r>
            <a:endParaRPr lang="en-US" sz="1250" dirty="0"/>
          </a:p>
        </p:txBody>
      </p:sp>
      <p:sp>
        <p:nvSpPr>
          <p:cNvPr id="8" name="Text Subject"/>
          <p:cNvSpPr/>
          <p:nvPr/>
        </p:nvSpPr>
        <p:spPr>
          <a:xfrm>
            <a:off x="731520" y="3020000"/>
            <a:ext cx="10725912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150" dirty="0"/>
          </a:p>
        </p:txBody>
      </p:sp>
      <p:sp>
        <p:nvSpPr>
          <p:cNvPr id="9" name="Text Subject Value"/>
          <p:cNvSpPr/>
          <p:nvPr/>
        </p:nvSpPr>
        <p:spPr>
          <a:xfrm>
            <a:off x="731520" y="3330000"/>
            <a:ext cx="10725912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ANALYSIS</a:t>
            </a:r>
            <a:endParaRPr lang="en-US" sz="1800" dirty="0"/>
          </a:p>
        </p:txBody>
      </p:sp>
      <p:sp>
        <p:nvSpPr>
          <p:cNvPr id="10" name="Text Team Heading"/>
          <p:cNvSpPr/>
          <p:nvPr/>
        </p:nvSpPr>
        <p:spPr>
          <a:xfrm>
            <a:off x="731520" y="3910000"/>
            <a:ext cx="10725912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50" dirty="0"/>
          </a:p>
        </p:txBody>
      </p:sp>
      <p:sp>
        <p:nvSpPr>
          <p:cNvPr id="11" name="Card Member1"/>
          <p:cNvSpPr/>
          <p:nvPr/>
        </p:nvSpPr>
        <p:spPr>
          <a:xfrm>
            <a:off x="657432" y="4320000"/>
            <a:ext cx="3441816" cy="5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Name1"/>
          <p:cNvSpPr/>
          <p:nvPr/>
        </p:nvSpPr>
        <p:spPr>
          <a:xfrm>
            <a:off x="657432" y="4375000"/>
            <a:ext cx="344181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Srija</a:t>
            </a:r>
            <a:endParaRPr lang="en-US" sz="1250" dirty="0"/>
          </a:p>
        </p:txBody>
      </p:sp>
      <p:sp>
        <p:nvSpPr>
          <p:cNvPr id="13" name="Text Roll1"/>
          <p:cNvSpPr/>
          <p:nvPr/>
        </p:nvSpPr>
        <p:spPr>
          <a:xfrm>
            <a:off x="657432" y="4620000"/>
            <a:ext cx="3441816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2420030480</a:t>
            </a:r>
            <a:endParaRPr lang="en-US" sz="1050" dirty="0"/>
          </a:p>
        </p:txBody>
      </p:sp>
      <p:sp>
        <p:nvSpPr>
          <p:cNvPr id="14" name="Card Member2"/>
          <p:cNvSpPr/>
          <p:nvPr/>
        </p:nvSpPr>
        <p:spPr>
          <a:xfrm>
            <a:off x="4373568" y="4320000"/>
            <a:ext cx="3441816" cy="5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Name2"/>
          <p:cNvSpPr/>
          <p:nvPr/>
        </p:nvSpPr>
        <p:spPr>
          <a:xfrm>
            <a:off x="4373568" y="4375000"/>
            <a:ext cx="344181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Deepak</a:t>
            </a:r>
            <a:endParaRPr lang="en-US" sz="1250" dirty="0"/>
          </a:p>
        </p:txBody>
      </p:sp>
      <p:sp>
        <p:nvSpPr>
          <p:cNvPr id="16" name="Text Roll2"/>
          <p:cNvSpPr/>
          <p:nvPr/>
        </p:nvSpPr>
        <p:spPr>
          <a:xfrm>
            <a:off x="4373568" y="4620000"/>
            <a:ext cx="3441816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2420030106</a:t>
            </a:r>
            <a:endParaRPr lang="en-US" sz="1050" dirty="0"/>
          </a:p>
        </p:txBody>
      </p:sp>
      <p:sp>
        <p:nvSpPr>
          <p:cNvPr id="17" name="Card Member3"/>
          <p:cNvSpPr/>
          <p:nvPr/>
        </p:nvSpPr>
        <p:spPr>
          <a:xfrm>
            <a:off x="8089704" y="4320000"/>
            <a:ext cx="3441816" cy="5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Name3"/>
          <p:cNvSpPr/>
          <p:nvPr/>
        </p:nvSpPr>
        <p:spPr>
          <a:xfrm>
            <a:off x="8089704" y="4375000"/>
            <a:ext cx="3441816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Bharath</a:t>
            </a:r>
            <a:endParaRPr lang="en-US" sz="1250" dirty="0"/>
          </a:p>
        </p:txBody>
      </p:sp>
      <p:sp>
        <p:nvSpPr>
          <p:cNvPr id="19" name="Text Roll3"/>
          <p:cNvSpPr/>
          <p:nvPr/>
        </p:nvSpPr>
        <p:spPr>
          <a:xfrm>
            <a:off x="8089704" y="4620000"/>
            <a:ext cx="3441816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2420090068</a:t>
            </a:r>
            <a:endParaRPr lang="en-US" sz="1050" dirty="0"/>
          </a:p>
        </p:txBody>
      </p:sp>
      <p:sp>
        <p:nvSpPr>
          <p:cNvPr id="20" name="Shape Role"/>
          <p:cNvSpPr/>
          <p:nvPr/>
        </p:nvSpPr>
        <p:spPr>
          <a:xfrm>
            <a:off x="3442716" y="5030000"/>
            <a:ext cx="5303520" cy="440000"/>
          </a:xfrm>
          <a:prstGeom prst="roundRect">
            <a:avLst>
              <a:gd name="adj" fmla="val 21818"/>
            </a:avLst>
          </a:prstGeom>
          <a:solidFill>
            <a:srgbClr val="C00000"/>
          </a:solidFill>
          <a:ln/>
        </p:spPr>
      </p:sp>
      <p:sp>
        <p:nvSpPr>
          <p:cNvPr id="21" name="Text Role"/>
          <p:cNvSpPr/>
          <p:nvPr/>
        </p:nvSpPr>
        <p:spPr>
          <a:xfrm>
            <a:off x="3442716" y="5030000"/>
            <a:ext cx="530352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AI Systems Developer — Multi-Agent Architecture</a:t>
            </a:r>
            <a:endParaRPr lang="en-US" sz="1300" dirty="0"/>
          </a:p>
        </p:txBody>
      </p:sp>
      <p:sp>
        <p:nvSpPr>
          <p:cNvPr id="22" name="Shape Chip0"/>
          <p:cNvSpPr/>
          <p:nvPr/>
        </p:nvSpPr>
        <p:spPr>
          <a:xfrm>
            <a:off x="365310" y="5620000"/>
            <a:ext cx="1298448" cy="3800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Chip0"/>
          <p:cNvSpPr/>
          <p:nvPr/>
        </p:nvSpPr>
        <p:spPr>
          <a:xfrm>
            <a:off x="365310" y="5620000"/>
            <a:ext cx="1298448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4" name="Shape Chip1"/>
          <p:cNvSpPr/>
          <p:nvPr/>
        </p:nvSpPr>
        <p:spPr>
          <a:xfrm>
            <a:off x="1816722" y="5620000"/>
            <a:ext cx="1298448" cy="3800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Chip1"/>
          <p:cNvSpPr/>
          <p:nvPr/>
        </p:nvSpPr>
        <p:spPr>
          <a:xfrm>
            <a:off x="1816722" y="5620000"/>
            <a:ext cx="1298448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26" name="Shape Chip2"/>
          <p:cNvSpPr/>
          <p:nvPr/>
        </p:nvSpPr>
        <p:spPr>
          <a:xfrm>
            <a:off x="3268134" y="5620000"/>
            <a:ext cx="1298448" cy="3800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7" name="Text Chip2"/>
          <p:cNvSpPr/>
          <p:nvPr/>
        </p:nvSpPr>
        <p:spPr>
          <a:xfrm>
            <a:off x="3268134" y="5620000"/>
            <a:ext cx="1298448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28" name="Shape Chip3"/>
          <p:cNvSpPr/>
          <p:nvPr/>
        </p:nvSpPr>
        <p:spPr>
          <a:xfrm>
            <a:off x="4719546" y="5620000"/>
            <a:ext cx="1298448" cy="3800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9" name="Text Chip3"/>
          <p:cNvSpPr/>
          <p:nvPr/>
        </p:nvSpPr>
        <p:spPr>
          <a:xfrm>
            <a:off x="4719546" y="5620000"/>
            <a:ext cx="1298448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</p:txBody>
      </p:sp>
      <p:sp>
        <p:nvSpPr>
          <p:cNvPr id="30" name="Shape Chip4"/>
          <p:cNvSpPr/>
          <p:nvPr/>
        </p:nvSpPr>
        <p:spPr>
          <a:xfrm>
            <a:off x="6170958" y="5620000"/>
            <a:ext cx="1298448" cy="3800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Text Chip4"/>
          <p:cNvSpPr/>
          <p:nvPr/>
        </p:nvSpPr>
        <p:spPr>
          <a:xfrm>
            <a:off x="6170958" y="5620000"/>
            <a:ext cx="1298448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</a:t>
            </a:r>
            <a:endParaRPr lang="en-US" sz="1000" dirty="0"/>
          </a:p>
        </p:txBody>
      </p:sp>
      <p:sp>
        <p:nvSpPr>
          <p:cNvPr id="32" name="Shape Chip5"/>
          <p:cNvSpPr/>
          <p:nvPr/>
        </p:nvSpPr>
        <p:spPr>
          <a:xfrm>
            <a:off x="7622370" y="5620000"/>
            <a:ext cx="1298448" cy="3800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3" name="Text Chip5"/>
          <p:cNvSpPr/>
          <p:nvPr/>
        </p:nvSpPr>
        <p:spPr>
          <a:xfrm>
            <a:off x="7622370" y="5620000"/>
            <a:ext cx="1298448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</a:t>
            </a:r>
            <a:endParaRPr lang="en-US" sz="1000" dirty="0"/>
          </a:p>
        </p:txBody>
      </p:sp>
      <p:sp>
        <p:nvSpPr>
          <p:cNvPr id="34" name="Shape Chip6"/>
          <p:cNvSpPr/>
          <p:nvPr/>
        </p:nvSpPr>
        <p:spPr>
          <a:xfrm>
            <a:off x="9073782" y="5620000"/>
            <a:ext cx="1298448" cy="3800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5" name="Text Chip6"/>
          <p:cNvSpPr/>
          <p:nvPr/>
        </p:nvSpPr>
        <p:spPr>
          <a:xfrm>
            <a:off x="9073782" y="5620000"/>
            <a:ext cx="1298448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000" dirty="0"/>
          </a:p>
        </p:txBody>
      </p:sp>
      <p:sp>
        <p:nvSpPr>
          <p:cNvPr id="36" name="Shape Chip7"/>
          <p:cNvSpPr/>
          <p:nvPr/>
        </p:nvSpPr>
        <p:spPr>
          <a:xfrm>
            <a:off x="10525194" y="5620000"/>
            <a:ext cx="1298448" cy="3800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7" name="Text Chip7"/>
          <p:cNvSpPr/>
          <p:nvPr/>
        </p:nvSpPr>
        <p:spPr>
          <a:xfrm>
            <a:off x="10525194" y="5620000"/>
            <a:ext cx="1298448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38" name="Text Tagline"/>
          <p:cNvSpPr/>
          <p:nvPr/>
        </p:nvSpPr>
        <p:spPr>
          <a:xfrm>
            <a:off x="0" y="6150000"/>
            <a:ext cx="12188952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 •  Hybrid RAG  •  Cross-Agent Validation  •  Production-Ready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3" name="Image 0" descr="/home/claude/work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417320" cy="621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Multi-Agent Research Assistant  |  Applied Machine Learning for Text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603504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190195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Developer (Multi-Agent Architecture)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24231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274320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a hierarchical multi-agent research system that decomposes complex queries into structured sub-tasks using LLM-based planning.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hybrid RAG (vector search + keyword retrieval) to fetch verified sources, extract statistical insights, and minimize hallucinations through cross-agent validation.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automated structured report generation with source citations and confidence scoring, following scalable production-ready architecture principles.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72084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720840" y="1691640"/>
            <a:ext cx="245059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48856" y="1911096"/>
            <a:ext cx="493776" cy="49377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16" name="Image 1" descr="/home/claude/work/icons/pytho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238" y="2039478"/>
            <a:ext cx="237012" cy="2370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34072" y="1691640"/>
            <a:ext cx="16093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299448" y="1691640"/>
            <a:ext cx="245059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427464" y="1911096"/>
            <a:ext cx="493776" cy="49377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20" name="Image 2" descr="/home/claude/work/icons/fastapi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846" y="2039478"/>
            <a:ext cx="237012" cy="2370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012680" y="1691640"/>
            <a:ext cx="16093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720840" y="2734056"/>
            <a:ext cx="245059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48856" y="2953512"/>
            <a:ext cx="493776" cy="49377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24" name="Image 3" descr="/home/claude/work/icons/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238" y="3081894"/>
            <a:ext cx="237012" cy="2370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34072" y="2734056"/>
            <a:ext cx="16093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9299448" y="2734056"/>
            <a:ext cx="245059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427464" y="2953512"/>
            <a:ext cx="493776" cy="49377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28" name="Image 4" descr="/home/claude/work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846" y="3081894"/>
            <a:ext cx="237012" cy="2370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012680" y="2734056"/>
            <a:ext cx="16093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720840" y="3776472"/>
            <a:ext cx="245059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848856" y="3995928"/>
            <a:ext cx="493776" cy="49377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32" name="Image 5" descr="/home/claude/work/icons/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7238" y="4124310"/>
            <a:ext cx="237012" cy="2370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434072" y="3776472"/>
            <a:ext cx="16093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 (GPT / Llama)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299448" y="3776472"/>
            <a:ext cx="245059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9427464" y="3995928"/>
            <a:ext cx="493776" cy="49377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36" name="Image 6" descr="/home/claude/work/icons/sear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846" y="4124310"/>
            <a:ext cx="237012" cy="23701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012680" y="3776472"/>
            <a:ext cx="16093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6720840" y="4818888"/>
            <a:ext cx="245059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0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848856" y="5038344"/>
            <a:ext cx="493776" cy="49377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40" name="Image 7" descr="/home/claude/work/icons/repo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7238" y="5166726"/>
            <a:ext cx="237012" cy="23701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434072" y="4818888"/>
            <a:ext cx="16093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100" dirty="0"/>
          </a:p>
        </p:txBody>
      </p:sp>
      <p:sp>
        <p:nvSpPr>
          <p:cNvPr id="42" name="Shape 32"/>
          <p:cNvSpPr/>
          <p:nvPr/>
        </p:nvSpPr>
        <p:spPr>
          <a:xfrm>
            <a:off x="9299448" y="4818888"/>
            <a:ext cx="2450592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0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9427464" y="5038344"/>
            <a:ext cx="493776" cy="49377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44" name="Image 8" descr="/home/claude/work/icons/docker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5846" y="5166726"/>
            <a:ext cx="237012" cy="23701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0012680" y="4818888"/>
            <a:ext cx="160934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3" name="Image 0" descr="/home/claude/work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417320" cy="621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Multi-Agent Research Assistant  |  Applied Machine Learning for Text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21892" y="1828800"/>
            <a:ext cx="768096" cy="76809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10" name="Image 1" descr="/home/claude/wor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597" y="2028505"/>
            <a:ext cx="368686" cy="3686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" y="278892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Overwhelming Volume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33832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volumes of unstructured web text make reliable, manual research slow and difficult to scale.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355848" y="15087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20540" y="1828800"/>
            <a:ext cx="768096" cy="76809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15" name="Image 2" descr="/home/claude/work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245" y="2028505"/>
            <a:ext cx="368686" cy="3686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20440" y="278892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538728" y="33832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manually search, compare sources, and judge credibility before synthesizing evidence.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54496" y="15087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19188" y="1828800"/>
            <a:ext cx="768096" cy="76809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20" name="Image 3" descr="/home/claude/work/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893" y="2028505"/>
            <a:ext cx="368686" cy="36868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19088" y="278892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Limits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437376" y="33832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LLM systems can miss evidence, hallucinate facts, or provide weak citation support.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153144" y="15087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117836" y="1828800"/>
            <a:ext cx="768096" cy="768096"/>
          </a:xfrm>
          <a:prstGeom prst="ellipse">
            <a:avLst/>
          </a:prstGeom>
          <a:solidFill>
            <a:srgbClr val="8C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25" name="Image 4" descr="/home/claude/work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7541" y="2028505"/>
            <a:ext cx="368686" cy="36868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17736" y="278892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 Layer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336024" y="33832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automated framework that grounds answers in retrieved evidence and validates claims before delivery.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3" name="Image 0" descr="/home/claude/work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417320" cy="621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Proposed Framework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Multi-Agent Research Assistant  |  Applied Machine Learning for Text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1920240"/>
            <a:ext cx="658368" cy="658368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10" name="Image 1" descr="/home/claude/work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44" y="2091416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1600200"/>
            <a:ext cx="42062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complex questions into focused, structured research sub-tasks.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12064" y="1563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63640" y="150876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64808" y="1920240"/>
            <a:ext cx="658368" cy="658368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15" name="Image 2" descr="/home/claude/work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984" y="2091416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0" y="1600200"/>
            <a:ext cx="42062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entity-preserving search queries and collect multiple candidate sources.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318504" y="1563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15468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" y="3566160"/>
            <a:ext cx="658368" cy="658368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20" name="Image 3" descr="/home/claude/work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44" y="3737336"/>
            <a:ext cx="316017" cy="31601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3246120"/>
            <a:ext cx="42062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keyword retrieval with semantic FAISS vector search for hybrid RAG.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12064" y="3209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263640" y="315468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64808" y="3566160"/>
            <a:ext cx="658368" cy="658368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25" name="Image 4" descr="/home/claude/work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984" y="3737336"/>
            <a:ext cx="316017" cy="31601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0" y="3246120"/>
            <a:ext cx="42062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sources by quality and relevance to minimize hallucination risk.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6318504" y="3209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57200" y="480060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8368" y="5212080"/>
            <a:ext cx="658368" cy="658368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30" name="Image 5" descr="/home/claude/work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544" y="5383256"/>
            <a:ext cx="316017" cy="31601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508760" y="4892040"/>
            <a:ext cx="42062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claims before final generation using cross-agent verification.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512064" y="4855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263640" y="480060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464808" y="5212080"/>
            <a:ext cx="658368" cy="658368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35" name="Image 6" descr="/home/claude/work/icons/repo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5984" y="5383256"/>
            <a:ext cx="316017" cy="316017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315200" y="4892040"/>
            <a:ext cx="42062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structured, citation-backed answer with confidence scoring.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6318504" y="4855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3" name="Image 0" descr="/home/claude/work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417320" cy="621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Hierarchical Multi-Agent Design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Multi-Agent Research Assistant  |  Applied Machine Learning for Text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37760" y="1280160"/>
            <a:ext cx="2286000" cy="777240"/>
          </a:xfrm>
          <a:prstGeom prst="roundRect">
            <a:avLst>
              <a:gd name="adj" fmla="val 10588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pic>
        <p:nvPicPr>
          <p:cNvPr id="9" name="Image 1" descr="/home/claude/work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49504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28016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 Query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852160" y="1975104"/>
            <a:ext cx="457200" cy="237744"/>
          </a:xfrm>
          <a:prstGeom prst="downArrow">
            <a:avLst/>
          </a:prstGeom>
          <a:solidFill>
            <a:srgbClr val="BA2532"/>
          </a:solidFill>
          <a:ln/>
        </p:spPr>
      </p:sp>
      <p:sp>
        <p:nvSpPr>
          <p:cNvPr id="12" name="Shape 8"/>
          <p:cNvSpPr/>
          <p:nvPr/>
        </p:nvSpPr>
        <p:spPr>
          <a:xfrm>
            <a:off x="4709160" y="2286000"/>
            <a:ext cx="2743200" cy="777240"/>
          </a:xfrm>
          <a:prstGeom prst="roundRect">
            <a:avLst>
              <a:gd name="adj" fmla="val 10588"/>
            </a:avLst>
          </a:prstGeom>
          <a:solidFill>
            <a:srgbClr val="8C0000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pic>
        <p:nvPicPr>
          <p:cNvPr id="13" name="Image 2" descr="/home/claude/work/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250088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12080" y="22860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/ Orchestrator Agent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(LLM-based decomposition)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1874520" y="3063240"/>
            <a:ext cx="8412480" cy="0"/>
          </a:xfrm>
          <a:prstGeom prst="line">
            <a:avLst/>
          </a:prstGeom>
          <a:noFill/>
          <a:ln w="19050">
            <a:solidFill>
              <a:srgbClr val="BA253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874520" y="3063240"/>
            <a:ext cx="0" cy="237744"/>
          </a:xfrm>
          <a:prstGeom prst="line">
            <a:avLst/>
          </a:prstGeom>
          <a:noFill/>
          <a:ln w="19050">
            <a:solidFill>
              <a:srgbClr val="BA253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080760" y="3063240"/>
            <a:ext cx="0" cy="237744"/>
          </a:xfrm>
          <a:prstGeom prst="line">
            <a:avLst/>
          </a:prstGeom>
          <a:noFill/>
          <a:ln w="19050">
            <a:solidFill>
              <a:srgbClr val="BA253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287000" y="3063240"/>
            <a:ext cx="0" cy="237744"/>
          </a:xfrm>
          <a:prstGeom prst="line">
            <a:avLst/>
          </a:prstGeom>
          <a:noFill/>
          <a:ln w="19050">
            <a:solidFill>
              <a:srgbClr val="BA253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3300984"/>
            <a:ext cx="26517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pic>
        <p:nvPicPr>
          <p:cNvPr id="20" name="Image 3" descr="/home/claude/work/icons/search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51586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300984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Entity-aware query gen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754880" y="3300984"/>
            <a:ext cx="26517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pic>
        <p:nvPicPr>
          <p:cNvPr id="23" name="Image 4" descr="/home/claude/work/icons/database_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515868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57800" y="3300984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Agent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(FAISS + keyword)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8961120" y="3300984"/>
            <a:ext cx="26517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pic>
        <p:nvPicPr>
          <p:cNvPr id="26" name="Image 5" descr="/home/claude/work/icons/shield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848" y="3515868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464040" y="3300984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fact-checking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548640" y="3300984"/>
            <a:ext cx="2651760" cy="777240"/>
          </a:xfrm>
          <a:prstGeom prst="roundRect">
            <a:avLst>
              <a:gd name="adj" fmla="val 10588"/>
            </a:avLst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754880" y="3300984"/>
            <a:ext cx="2651760" cy="777240"/>
          </a:xfrm>
          <a:prstGeom prst="roundRect">
            <a:avLst>
              <a:gd name="adj" fmla="val 10588"/>
            </a:avLst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8961120" y="3300984"/>
            <a:ext cx="2651760" cy="777240"/>
          </a:xfrm>
          <a:prstGeom prst="roundRect">
            <a:avLst>
              <a:gd name="adj" fmla="val 10588"/>
            </a:avLst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874520" y="4078224"/>
            <a:ext cx="0" cy="219456"/>
          </a:xfrm>
          <a:prstGeom prst="line">
            <a:avLst/>
          </a:prstGeom>
          <a:noFill/>
          <a:ln w="19050">
            <a:solidFill>
              <a:srgbClr val="BA2532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080760" y="4078224"/>
            <a:ext cx="0" cy="219456"/>
          </a:xfrm>
          <a:prstGeom prst="line">
            <a:avLst/>
          </a:prstGeom>
          <a:noFill/>
          <a:ln w="19050">
            <a:solidFill>
              <a:srgbClr val="BA2532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10287000" y="4078224"/>
            <a:ext cx="0" cy="219456"/>
          </a:xfrm>
          <a:prstGeom prst="line">
            <a:avLst/>
          </a:prstGeom>
          <a:noFill/>
          <a:ln w="19050">
            <a:solidFill>
              <a:srgbClr val="BA2532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1874520" y="4297680"/>
            <a:ext cx="8412480" cy="0"/>
          </a:xfrm>
          <a:prstGeom prst="line">
            <a:avLst/>
          </a:prstGeom>
          <a:noFill/>
          <a:ln w="19050">
            <a:solidFill>
              <a:srgbClr val="BA253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852160" y="4297680"/>
            <a:ext cx="457200" cy="219456"/>
          </a:xfrm>
          <a:prstGeom prst="downArrow">
            <a:avLst/>
          </a:prstGeom>
          <a:solidFill>
            <a:srgbClr val="BA2532"/>
          </a:solidFill>
          <a:ln/>
        </p:spPr>
      </p:sp>
      <p:sp>
        <p:nvSpPr>
          <p:cNvPr id="36" name="Shape 28"/>
          <p:cNvSpPr/>
          <p:nvPr/>
        </p:nvSpPr>
        <p:spPr>
          <a:xfrm>
            <a:off x="4480560" y="4736592"/>
            <a:ext cx="3200400" cy="777240"/>
          </a:xfrm>
          <a:prstGeom prst="roundRect">
            <a:avLst>
              <a:gd name="adj" fmla="val 10588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pic>
        <p:nvPicPr>
          <p:cNvPr id="37" name="Image 6" descr="/home/claude/work/icons/brai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288" y="4951476"/>
            <a:ext cx="347472" cy="34747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983480" y="4736592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Agent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answer generation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5852160" y="5513832"/>
            <a:ext cx="457200" cy="219456"/>
          </a:xfrm>
          <a:prstGeom prst="downArrow">
            <a:avLst/>
          </a:prstGeom>
          <a:solidFill>
            <a:srgbClr val="BA2532"/>
          </a:solidFill>
          <a:ln/>
        </p:spPr>
      </p:sp>
      <p:sp>
        <p:nvSpPr>
          <p:cNvPr id="40" name="Shape 31"/>
          <p:cNvSpPr/>
          <p:nvPr/>
        </p:nvSpPr>
        <p:spPr>
          <a:xfrm>
            <a:off x="3794760" y="5788152"/>
            <a:ext cx="4023360" cy="777240"/>
          </a:xfrm>
          <a:prstGeom prst="roundRect">
            <a:avLst>
              <a:gd name="adj" fmla="val 10588"/>
            </a:avLst>
          </a:prstGeom>
          <a:solidFill>
            <a:srgbClr val="8C0000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pic>
        <p:nvPicPr>
          <p:cNvPr id="41" name="Image 7" descr="/home/claude/work/icons/repo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4488" y="6003036"/>
            <a:ext cx="347472" cy="34747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297680" y="578815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 + Citations + Confidence Score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3" name="Image 0" descr="/home/claude/work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417320" cy="621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Pipeline — Retrieval &amp; Evidence Fusion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Multi-Agent Research Assistant  |  Applied Machine Learning for Text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74920" y="1371600"/>
            <a:ext cx="2011680" cy="640080"/>
          </a:xfrm>
          <a:prstGeom prst="roundRect">
            <a:avLst>
              <a:gd name="adj" fmla="val 12857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pic>
        <p:nvPicPr>
          <p:cNvPr id="9" name="Image 1" descr="/home/claude/wor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4" y="144475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48072" y="1792224"/>
            <a:ext cx="186537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Query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806440" y="2011680"/>
            <a:ext cx="548640" cy="201168"/>
          </a:xfrm>
          <a:prstGeom prst="downArrow">
            <a:avLst/>
          </a:prstGeom>
          <a:solidFill>
            <a:srgbClr val="BA2532"/>
          </a:solidFill>
          <a:ln/>
        </p:spPr>
      </p:sp>
      <p:sp>
        <p:nvSpPr>
          <p:cNvPr id="12" name="Shape 8"/>
          <p:cNvSpPr/>
          <p:nvPr/>
        </p:nvSpPr>
        <p:spPr>
          <a:xfrm>
            <a:off x="1554480" y="2267712"/>
            <a:ext cx="32918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pic>
        <p:nvPicPr>
          <p:cNvPr id="13" name="Image 2" descr="/home/claude/work/icons/database_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664" y="234086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27632" y="2688336"/>
            <a:ext cx="3145536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embeddings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269480" y="2267712"/>
            <a:ext cx="32918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pic>
        <p:nvPicPr>
          <p:cNvPr id="16" name="Image 3" descr="/home/claude/work/icons/cloud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4" y="2340864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42632" y="2688336"/>
            <a:ext cx="3145536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&amp; Live Web 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 retrieval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1554480" y="2267712"/>
            <a:ext cx="3291840" cy="868680"/>
          </a:xfrm>
          <a:prstGeom prst="roundRect">
            <a:avLst>
              <a:gd name="adj" fmla="val 9474"/>
            </a:avLst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269480" y="2267712"/>
            <a:ext cx="3291840" cy="868680"/>
          </a:xfrm>
          <a:prstGeom prst="roundRect">
            <a:avLst>
              <a:gd name="adj" fmla="val 9474"/>
            </a:avLst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200400" y="3136392"/>
            <a:ext cx="0" cy="182880"/>
          </a:xfrm>
          <a:prstGeom prst="line">
            <a:avLst/>
          </a:prstGeom>
          <a:noFill/>
          <a:ln w="19050">
            <a:solidFill>
              <a:srgbClr val="BA253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915400" y="3136392"/>
            <a:ext cx="0" cy="182880"/>
          </a:xfrm>
          <a:prstGeom prst="line">
            <a:avLst/>
          </a:prstGeom>
          <a:noFill/>
          <a:ln w="19050">
            <a:solidFill>
              <a:srgbClr val="BA253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200400" y="3319272"/>
            <a:ext cx="5715000" cy="0"/>
          </a:xfrm>
          <a:prstGeom prst="line">
            <a:avLst/>
          </a:prstGeom>
          <a:noFill/>
          <a:ln w="19050">
            <a:solidFill>
              <a:srgbClr val="BA253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806440" y="3319272"/>
            <a:ext cx="548640" cy="201168"/>
          </a:xfrm>
          <a:prstGeom prst="downArrow">
            <a:avLst/>
          </a:prstGeom>
          <a:solidFill>
            <a:srgbClr val="BA2532"/>
          </a:solidFill>
          <a:ln/>
        </p:spPr>
      </p:sp>
      <p:sp>
        <p:nvSpPr>
          <p:cNvPr id="24" name="Shape 18"/>
          <p:cNvSpPr/>
          <p:nvPr/>
        </p:nvSpPr>
        <p:spPr>
          <a:xfrm>
            <a:off x="4251960" y="3685032"/>
            <a:ext cx="3657600" cy="566928"/>
          </a:xfrm>
          <a:prstGeom prst="roundRect">
            <a:avLst>
              <a:gd name="adj" fmla="val 14516"/>
            </a:avLst>
          </a:prstGeom>
          <a:solidFill>
            <a:srgbClr val="8C0000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pic>
        <p:nvPicPr>
          <p:cNvPr id="25" name="Image 4" descr="/home/claude/work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3813048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46320" y="36850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Rank &amp; Deduplicate Sources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806440" y="4251960"/>
            <a:ext cx="548640" cy="182880"/>
          </a:xfrm>
          <a:prstGeom prst="downArrow">
            <a:avLst/>
          </a:prstGeom>
          <a:solidFill>
            <a:srgbClr val="BA2532"/>
          </a:solidFill>
          <a:ln/>
        </p:spPr>
      </p:sp>
      <p:sp>
        <p:nvSpPr>
          <p:cNvPr id="28" name="Shape 21"/>
          <p:cNvSpPr/>
          <p:nvPr/>
        </p:nvSpPr>
        <p:spPr>
          <a:xfrm>
            <a:off x="4251960" y="4599432"/>
            <a:ext cx="3657600" cy="566928"/>
          </a:xfrm>
          <a:prstGeom prst="roundRect">
            <a:avLst>
              <a:gd name="adj" fmla="val 14516"/>
            </a:avLst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pic>
        <p:nvPicPr>
          <p:cNvPr id="29" name="Image 5" descr="/home/claude/work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4727448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846320" y="459943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Validation (reduces hallucination)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5806440" y="5166360"/>
            <a:ext cx="548640" cy="182880"/>
          </a:xfrm>
          <a:prstGeom prst="downArrow">
            <a:avLst/>
          </a:prstGeom>
          <a:solidFill>
            <a:srgbClr val="BA2532"/>
          </a:solidFill>
          <a:ln/>
        </p:spPr>
      </p:sp>
      <p:sp>
        <p:nvSpPr>
          <p:cNvPr id="32" name="Shape 24"/>
          <p:cNvSpPr/>
          <p:nvPr/>
        </p:nvSpPr>
        <p:spPr>
          <a:xfrm>
            <a:off x="3566160" y="5513832"/>
            <a:ext cx="5029200" cy="530352"/>
          </a:xfrm>
          <a:prstGeom prst="roundRect">
            <a:avLst>
              <a:gd name="adj" fmla="val 15517"/>
            </a:avLst>
          </a:prstGeom>
          <a:solidFill>
            <a:srgbClr val="8C0000"/>
          </a:solidFill>
          <a:ln/>
          <a:effectLst>
            <a:outerShdw sx="100000" sy="100000" kx="0" ky="0" algn="bl" rotWithShape="0" blurRad="76200" dist="25400" dir="5400000">
              <a:srgbClr val="444444">
                <a:alpha val="15000"/>
              </a:srgbClr>
            </a:outerShdw>
          </a:effectLst>
        </p:spPr>
      </p:sp>
      <p:pic>
        <p:nvPicPr>
          <p:cNvPr id="33" name="Image 6" descr="/home/claude/work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0752" y="5623560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160520" y="5513832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Evidence-Grounded, Citation-Backed Answer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3" name="Image 0" descr="/home/claude/work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417320" cy="621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 Stack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Multi-Agent Research Assistant  |  Applied Machine Learning for Text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35508" y="16002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36192" y="1856232"/>
            <a:ext cx="804672" cy="804672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10" name="Image 1" descr="/home/claude/work/icons/pytho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407" y="2065447"/>
            <a:ext cx="386243" cy="3862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2668" y="27706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00100" y="3099816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orchestration &amp; agent logic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406140" y="16002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06824" y="1856232"/>
            <a:ext cx="804672" cy="804672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15" name="Image 2" descr="/home/claude/work/icons/fastapi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039" y="2065447"/>
            <a:ext cx="386243" cy="3862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43300" y="27706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570732" y="3099816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service-layer deployment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176772" y="16002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077456" y="1856232"/>
            <a:ext cx="804672" cy="804672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20" name="Image 3" descr="/home/claude/work/icons/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71" y="2065447"/>
            <a:ext cx="386243" cy="3862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13932" y="27706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341364" y="3099816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workflow orchestration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8947404" y="160020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848088" y="1856232"/>
            <a:ext cx="804672" cy="804672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25" name="Image 4" descr="/home/claude/work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7303" y="2065447"/>
            <a:ext cx="386243" cy="38624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84564" y="277063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111996" y="3099816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semantic vector search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35508" y="39776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1536192" y="4233672"/>
            <a:ext cx="804672" cy="804672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30" name="Image 5" descr="/home/claude/work/icons/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5407" y="4442887"/>
            <a:ext cx="386243" cy="38624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72668" y="5148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800100" y="5477256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/ Llama for planning &amp; synthesis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3406140" y="39776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306824" y="4233672"/>
            <a:ext cx="804672" cy="804672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35" name="Image 6" descr="/home/claude/work/icons/searc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6039" y="4442887"/>
            <a:ext cx="386243" cy="38624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543300" y="5148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3570732" y="5477256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 search retrieval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6176772" y="39776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7077456" y="4233672"/>
            <a:ext cx="804672" cy="804672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40" name="Image 7" descr="/home/claude/work/icons/repo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6671" y="4442887"/>
            <a:ext cx="386243" cy="386243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6313932" y="5148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350" dirty="0"/>
          </a:p>
        </p:txBody>
      </p:sp>
      <p:sp>
        <p:nvSpPr>
          <p:cNvPr id="42" name="Text 32"/>
          <p:cNvSpPr/>
          <p:nvPr/>
        </p:nvSpPr>
        <p:spPr>
          <a:xfrm>
            <a:off x="6341364" y="5477256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PDF report generation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8947404" y="397764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9848088" y="4233672"/>
            <a:ext cx="804672" cy="804672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45" name="Image 8" descr="/home/claude/work/icons/docker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7303" y="4442887"/>
            <a:ext cx="386243" cy="386243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9084564" y="5148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50" dirty="0"/>
          </a:p>
        </p:txBody>
      </p:sp>
      <p:sp>
        <p:nvSpPr>
          <p:cNvPr id="47" name="Text 36"/>
          <p:cNvSpPr/>
          <p:nvPr/>
        </p:nvSpPr>
        <p:spPr>
          <a:xfrm>
            <a:off x="9111996" y="5477256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Containerized, production-ready packaging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3" name="Image 0" descr="/home/claude/work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417320" cy="621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Key Features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Multi-Agent Research Assistant  |  Applied Machine Learning for Text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1764792"/>
            <a:ext cx="685800" cy="685800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10" name="Image 1" descr="/home/claude/work/icon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94310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173736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Multi-Agent Design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237744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planner agent decomposes queries and coordinates specialized sub-agents, rather than relying on a single monolithic prompt.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63640" y="150876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19672" y="1764792"/>
            <a:ext cx="685800" cy="685800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15" name="Image 2" descr="/home/claude/work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194310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06640" y="173736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Hybrid Retrieval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537960" y="237744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semantic FAISS vector search with keyword and live web search for both conceptual and factual coverage.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374904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13232" y="4005072"/>
            <a:ext cx="685800" cy="685800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20" name="Image 3" descr="/home/claude/wor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18338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39776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Validation Agent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31520" y="461772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agent checks whether generated claims are actually supported by retrieved evidence before synthesis.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263640" y="374904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19672" y="4005072"/>
            <a:ext cx="685800" cy="685800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25" name="Image 4" descr="/home/claude/wor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0" y="4183380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06640" y="397764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Output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537960" y="4617720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reports carry explicit confidence levels and traceable source citations for every claim.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3" name="Image 0" descr="/home/claude/work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417320" cy="621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Multi-Agent Research Assistant  |  Applied Machine Learning for Text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219456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10412" y="2359152"/>
            <a:ext cx="585216" cy="58521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10" name="Image 1" descr="/home/claude/work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68" y="2511308"/>
            <a:ext cx="280904" cy="280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18105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A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30352" y="3035808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189330" y="2752344"/>
            <a:ext cx="143963" cy="256032"/>
          </a:xfrm>
          <a:prstGeom prst="rightArrow">
            <a:avLst/>
          </a:prstGeom>
          <a:solidFill>
            <a:srgbClr val="BA2532"/>
          </a:solidFill>
          <a:ln/>
        </p:spPr>
      </p:sp>
      <p:sp>
        <p:nvSpPr>
          <p:cNvPr id="14" name="Shape 10"/>
          <p:cNvSpPr/>
          <p:nvPr/>
        </p:nvSpPr>
        <p:spPr>
          <a:xfrm>
            <a:off x="2373782" y="219456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926994" y="2359152"/>
            <a:ext cx="585216" cy="58521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16" name="Image 2" descr="/home/claude/work/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151" y="2511308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373782" y="18105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A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446934" y="3035808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105912" y="2752344"/>
            <a:ext cx="143963" cy="256032"/>
          </a:xfrm>
          <a:prstGeom prst="rightArrow">
            <a:avLst/>
          </a:prstGeom>
          <a:solidFill>
            <a:srgbClr val="BA2532"/>
          </a:solidFill>
          <a:ln/>
        </p:spPr>
      </p:sp>
      <p:sp>
        <p:nvSpPr>
          <p:cNvPr id="20" name="Shape 15"/>
          <p:cNvSpPr/>
          <p:nvPr/>
        </p:nvSpPr>
        <p:spPr>
          <a:xfrm>
            <a:off x="4290365" y="219456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3577" y="2359152"/>
            <a:ext cx="585216" cy="58521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22" name="Image 3" descr="/home/claude/work/icons/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733" y="2511308"/>
            <a:ext cx="280904" cy="280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290365" y="18105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A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363517" y="3035808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 Dispatch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022494" y="2752344"/>
            <a:ext cx="143963" cy="256032"/>
          </a:xfrm>
          <a:prstGeom prst="rightArrow">
            <a:avLst/>
          </a:prstGeom>
          <a:solidFill>
            <a:srgbClr val="BA2532"/>
          </a:solidFill>
          <a:ln/>
        </p:spPr>
      </p:sp>
      <p:sp>
        <p:nvSpPr>
          <p:cNvPr id="26" name="Shape 20"/>
          <p:cNvSpPr/>
          <p:nvPr/>
        </p:nvSpPr>
        <p:spPr>
          <a:xfrm>
            <a:off x="6206947" y="219456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760159" y="2359152"/>
            <a:ext cx="585216" cy="58521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28" name="Image 4" descr="/home/claude/work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315" y="2511308"/>
            <a:ext cx="280904" cy="28090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206947" y="18105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A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6280099" y="3035808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Retrieval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7939077" y="2752344"/>
            <a:ext cx="143963" cy="256032"/>
          </a:xfrm>
          <a:prstGeom prst="rightArrow">
            <a:avLst/>
          </a:prstGeom>
          <a:solidFill>
            <a:srgbClr val="BA2532"/>
          </a:solidFill>
          <a:ln/>
        </p:spPr>
      </p:sp>
      <p:sp>
        <p:nvSpPr>
          <p:cNvPr id="32" name="Shape 25"/>
          <p:cNvSpPr/>
          <p:nvPr/>
        </p:nvSpPr>
        <p:spPr>
          <a:xfrm>
            <a:off x="8123530" y="219456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676742" y="2359152"/>
            <a:ext cx="585216" cy="58521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34" name="Image 5" descr="/home/claude/work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8898" y="2511308"/>
            <a:ext cx="280904" cy="28090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123530" y="18105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A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8196682" y="3035808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Validation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9855659" y="2752344"/>
            <a:ext cx="143963" cy="256032"/>
          </a:xfrm>
          <a:prstGeom prst="rightArrow">
            <a:avLst/>
          </a:prstGeom>
          <a:solidFill>
            <a:srgbClr val="BA2532"/>
          </a:solidFill>
          <a:ln/>
        </p:spPr>
      </p:sp>
      <p:sp>
        <p:nvSpPr>
          <p:cNvPr id="38" name="Shape 30"/>
          <p:cNvSpPr/>
          <p:nvPr/>
        </p:nvSpPr>
        <p:spPr>
          <a:xfrm>
            <a:off x="10040112" y="219456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8C0000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10593324" y="2359152"/>
            <a:ext cx="585216" cy="58521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40" name="Image 6" descr="/home/claude/work/icons/repo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5480" y="2511308"/>
            <a:ext cx="280904" cy="28090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040112" y="18105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A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10113264" y="3035808"/>
            <a:ext cx="1545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Report + Confidence</a:t>
            </a:r>
            <a:endParaRPr lang="en-US" sz="1050" dirty="0"/>
          </a:p>
        </p:txBody>
      </p:sp>
      <p:sp>
        <p:nvSpPr>
          <p:cNvPr id="43" name="Text 34"/>
          <p:cNvSpPr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domain-independent pipeline that plans, retrieves, verifies, and synthesizes — end to end.</a:t>
            </a:r>
            <a:endParaRPr lang="en-US" sz="1350" dirty="0"/>
          </a:p>
        </p:txBody>
      </p:sp>
      <p:sp>
        <p:nvSpPr>
          <p:cNvPr id="44" name="Shape 35"/>
          <p:cNvSpPr/>
          <p:nvPr/>
        </p:nvSpPr>
        <p:spPr>
          <a:xfrm>
            <a:off x="585216" y="4846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768096" y="5280660"/>
            <a:ext cx="548640" cy="548640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46" name="Image 7" descr="/home/claude/work/icons/targ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742" y="5423306"/>
            <a:ext cx="263347" cy="263347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1453896" y="495604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Task-Aware Planning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1453896" y="53035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sub-task is scoped to what the query actually needs.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4334256" y="4846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4517136" y="5280660"/>
            <a:ext cx="548640" cy="548640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51" name="Image 8" descr="/home/claude/work/icons/shie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9782" y="5423306"/>
            <a:ext cx="263347" cy="263347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5202936" y="495604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Validation</a:t>
            </a:r>
            <a:endParaRPr lang="en-US" sz="1200" dirty="0"/>
          </a:p>
        </p:txBody>
      </p:sp>
      <p:sp>
        <p:nvSpPr>
          <p:cNvPr id="53" name="Text 42"/>
          <p:cNvSpPr/>
          <p:nvPr/>
        </p:nvSpPr>
        <p:spPr>
          <a:xfrm>
            <a:off x="5202936" y="53035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are checked against retrieved evidence, not assumed.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8083296" y="484632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8266176" y="5280660"/>
            <a:ext cx="548640" cy="548640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56" name="Image 9" descr="/home/claude/work/icon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8822" y="5423306"/>
            <a:ext cx="263347" cy="263347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8951976" y="495604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Output</a:t>
            </a:r>
            <a:endParaRPr lang="en-US" sz="1200" dirty="0"/>
          </a:p>
        </p:txBody>
      </p:sp>
      <p:sp>
        <p:nvSpPr>
          <p:cNvPr id="58" name="Text 46"/>
          <p:cNvSpPr/>
          <p:nvPr/>
        </p:nvSpPr>
        <p:spPr>
          <a:xfrm>
            <a:off x="8951976" y="53035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statement in the final report links back to a source.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3" name="Image 0" descr="/home/claude/work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417320" cy="621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— Validation, Citations &amp; Confidence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Multi-Agent Research Assistant  |  Applied Machine Learning for Text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C00000"/>
          </a:solidFill>
          <a:ln/>
          <a:effectLst>
            <a:outerShdw sx="100000" sy="100000" kx="0" ky="0" algn="bl" rotWithShape="0" blurRad="101600" dist="25400" dir="5400000">
              <a:srgbClr val="444444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178308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10" name="Image 1" descr="/home/claude/work/icons/shield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0" y="199705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18288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Validation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77240" y="278892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validation agent checks whether generated claims are actually supported by retrieved sources.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 by rejecting or flagging unsupported statements before they reach the final report.</a:t>
            </a:r>
            <a:endParaRPr lang="en-US" sz="12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independently of the synthesis agent, mirroring a reviewer role in a research pipeline.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309360" y="150876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629400" y="1783080"/>
            <a:ext cx="822960" cy="822960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15" name="Image 2" descr="/home/claude/work/icons/repo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370" y="199705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35240" y="18288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&amp; Confidence Scoring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629400" y="278892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the structured report is linked to its supporting source for full traceability.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confidence score reflects source agreement and validation outcome, not just model certainty.</a:t>
            </a:r>
            <a:endParaRPr lang="en-US" sz="1250" dirty="0"/>
          </a:p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generated automatically with ReportLab in a clean, consistent, presentation-ready format.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3" name="Image 0" descr="/home/claude/work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417320" cy="621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Text 2"/>
          <p:cNvSpPr/>
          <p:nvPr/>
        </p:nvSpPr>
        <p:spPr>
          <a:xfrm>
            <a:off x="2880360" y="320040"/>
            <a:ext cx="9006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Production-Ready Architecture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20040" y="6473952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Multi-Agent Research Assistant  |  Applied Machine Learning for Text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21892" y="1828800"/>
            <a:ext cx="768096" cy="76809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10" name="Image 1" descr="/home/claude/work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597" y="2028505"/>
            <a:ext cx="368686" cy="3686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" y="278892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Layer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40080" y="33832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multi-agent pipeline as a lightweight, well-documented REST API.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355848" y="15087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20540" y="1828800"/>
            <a:ext cx="768096" cy="76809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15" name="Image 2" descr="/home/claude/work/icons/docke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245" y="2028505"/>
            <a:ext cx="368686" cy="3686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20440" y="278892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538728" y="33832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the full system for consistent, portable deployment across environments.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54496" y="15087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19188" y="1828800"/>
            <a:ext cx="768096" cy="76809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20" name="Image 3" descr="/home/claude/work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893" y="2028505"/>
            <a:ext cx="368686" cy="36868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19088" y="278892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Agents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37376" y="33832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Planner, retrieval, and validation agents can be scaled, replaced, or improved independently.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153144" y="1508760"/>
            <a:ext cx="2697480" cy="39319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F7E1DE"/>
            </a:solidFill>
            <a:prstDash val="solid"/>
          </a:ln>
          <a:effectLst>
            <a:outerShdw sx="100000" sy="100000" kx="0" ky="0" algn="bl" rotWithShape="0" blurRad="101600" dist="25400" dir="5400000">
              <a:srgbClr val="444444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117836" y="1828800"/>
            <a:ext cx="768096" cy="768096"/>
          </a:xfrm>
          <a:prstGeom prst="ellipse">
            <a:avLst/>
          </a:prstGeom>
          <a:solidFill>
            <a:srgbClr val="C00000"/>
          </a:solidFill>
          <a:ln/>
          <a:effectLst>
            <a:outerShdw sx="100000" sy="100000" kx="0" ky="0" algn="bl" rotWithShape="0" blurRad="76200" dist="25400" dir="5400000">
              <a:srgbClr val="9B1B1B">
                <a:alpha val="25000"/>
              </a:srgbClr>
            </a:outerShdw>
          </a:effectLst>
        </p:spPr>
      </p:sp>
      <p:pic>
        <p:nvPicPr>
          <p:cNvPr id="25" name="Image 4" descr="/home/claude/work/icons/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7541" y="2028505"/>
            <a:ext cx="368686" cy="36868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17736" y="2788920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LLM APIs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336024" y="338328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GPT and Llama-based providers, keeping the architecture provider-agnostic.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BA2532"/>
          </a:solidFill>
          <a:ln/>
        </p:spPr>
      </p:sp>
      <p:pic>
        <p:nvPicPr>
          <p:cNvPr id="3" name="Image 0" descr="/home/claude/work/unpacked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1417320" cy="62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1887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2057400"/>
            <a:ext cx="10908792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hierarchical multi-agent planning and hybrid RAG to real-world research and text analysis.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decomposition improves coverage of complex, multi-part research questions.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combines exact lexical matching with semantic search for stronger evidence coverage.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source filtering and claim validation add a reliability layer beyond a single LLM call.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Python, FastAPI, LangGraph, FAISS, and Docker — a feasible, modular, and extensible path toward a production-ready research assistant.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7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Multi-Agent Research Assistant  |  Applied Machine Learning for Text Analysis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2026-08-20T04:55:37Z</dcterms:created>
  <dcterms:modified xsi:type="dcterms:W3CDTF">2026-08-20T04:55:37Z</dcterms:modified>
</cp:coreProperties>
</file>